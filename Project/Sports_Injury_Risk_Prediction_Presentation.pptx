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65" r:id="rId5"/>
    <p:sldId id="264"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8" d="100"/>
          <a:sy n="48" d="100"/>
        </p:scale>
        <p:origin x="53" y="7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C37"/>
        </a:solidFill>
        <a:effectLst/>
      </p:bgPr>
    </p:bg>
    <p:spTree>
      <p:nvGrpSpPr>
        <p:cNvPr id="1" name=""/>
        <p:cNvGrpSpPr/>
        <p:nvPr/>
      </p:nvGrpSpPr>
      <p:grpSpPr>
        <a:xfrm>
          <a:off x="0" y="0"/>
          <a:ext cx="0" cy="0"/>
          <a:chOff x="0" y="0"/>
          <a:chExt cx="0" cy="0"/>
        </a:xfrm>
      </p:grpSpPr>
      <p:sp>
        <p:nvSpPr>
          <p:cNvPr id="2" name="Oval 1"/>
          <p:cNvSpPr/>
          <p:nvPr/>
        </p:nvSpPr>
        <p:spPr>
          <a:xfrm>
            <a:off x="9418320" y="731520"/>
            <a:ext cx="1828800" cy="1828800"/>
          </a:xfrm>
          <a:prstGeom prst="ellipse">
            <a:avLst/>
          </a:prstGeom>
          <a:solidFill>
            <a:srgbClr val="21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241280" y="1828800"/>
            <a:ext cx="1005840" cy="1005840"/>
          </a:xfrm>
          <a:prstGeom prst="ellipse">
            <a:avLst/>
          </a:prstGeom>
          <a:solidFill>
            <a:srgbClr val="2A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778240" y="2468880"/>
            <a:ext cx="594360" cy="594360"/>
          </a:xfrm>
          <a:prstGeom prst="ellipse">
            <a:avLst/>
          </a:prstGeom>
          <a:solidFill>
            <a:srgbClr val="F79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731520"/>
            <a:ext cx="6766560" cy="320040"/>
          </a:xfrm>
          <a:prstGeom prst="rect">
            <a:avLst/>
          </a:prstGeom>
          <a:noFill/>
        </p:spPr>
        <p:txBody>
          <a:bodyPr wrap="square" lIns="36576" tIns="27432" rIns="36576" bIns="27432" anchor="t">
            <a:spAutoFit/>
          </a:bodyPr>
          <a:lstStyle/>
          <a:p>
            <a:pPr algn="l">
              <a:spcAft>
                <a:spcPts val="800"/>
              </a:spcAft>
              <a:defRPr sz="1500" b="1">
                <a:solidFill>
                  <a:srgbClr val="2ABECD"/>
                </a:solidFill>
                <a:latin typeface="Aptos"/>
              </a:defRPr>
            </a:pPr>
            <a:r>
              <a:t>MACHINE LEARNING PROJECT</a:t>
            </a:r>
          </a:p>
        </p:txBody>
      </p:sp>
      <p:sp>
        <p:nvSpPr>
          <p:cNvPr id="6" name="TextBox 5"/>
          <p:cNvSpPr txBox="1"/>
          <p:nvPr/>
        </p:nvSpPr>
        <p:spPr>
          <a:xfrm>
            <a:off x="731520" y="1417320"/>
            <a:ext cx="8046720" cy="1600200"/>
          </a:xfrm>
          <a:prstGeom prst="rect">
            <a:avLst/>
          </a:prstGeom>
          <a:noFill/>
        </p:spPr>
        <p:txBody>
          <a:bodyPr wrap="square" lIns="36576" tIns="27432" rIns="36576" bIns="27432" anchor="t">
            <a:spAutoFit/>
          </a:bodyPr>
          <a:lstStyle/>
          <a:p>
            <a:pPr algn="l">
              <a:spcAft>
                <a:spcPts val="800"/>
              </a:spcAft>
              <a:defRPr sz="3400" b="1">
                <a:solidFill>
                  <a:srgbClr val="FFFFFF"/>
                </a:solidFill>
                <a:latin typeface="Aptos"/>
              </a:defRPr>
            </a:pPr>
            <a:r>
              <a:t>SPORTS INJURY</a:t>
            </a:r>
          </a:p>
          <a:p>
            <a:pPr algn="l">
              <a:spcAft>
                <a:spcPts val="800"/>
              </a:spcAft>
              <a:defRPr sz="3400" b="1">
                <a:solidFill>
                  <a:srgbClr val="FFFFFF"/>
                </a:solidFill>
                <a:latin typeface="Aptos"/>
              </a:defRPr>
            </a:pPr>
            <a:r>
              <a:t>RISK PREDICTION</a:t>
            </a:r>
          </a:p>
        </p:txBody>
      </p:sp>
      <p:sp>
        <p:nvSpPr>
          <p:cNvPr id="7" name="TextBox 6"/>
          <p:cNvSpPr txBox="1"/>
          <p:nvPr/>
        </p:nvSpPr>
        <p:spPr>
          <a:xfrm>
            <a:off x="777240" y="3246120"/>
            <a:ext cx="7772400" cy="685800"/>
          </a:xfrm>
          <a:prstGeom prst="rect">
            <a:avLst/>
          </a:prstGeom>
          <a:noFill/>
        </p:spPr>
        <p:txBody>
          <a:bodyPr wrap="square" lIns="36576" tIns="27432" rIns="36576" bIns="27432" anchor="t">
            <a:spAutoFit/>
          </a:bodyPr>
          <a:lstStyle/>
          <a:p>
            <a:pPr algn="l">
              <a:spcAft>
                <a:spcPts val="800"/>
              </a:spcAft>
              <a:defRPr sz="2000" b="0">
                <a:solidFill>
                  <a:srgbClr val="B9CBDE"/>
                </a:solidFill>
                <a:latin typeface="Aptos"/>
              </a:defRPr>
            </a:pPr>
            <a:r>
              <a:t>Using Random Forest and Support Vector Machine (SVM)</a:t>
            </a:r>
          </a:p>
        </p:txBody>
      </p:sp>
      <p:sp>
        <p:nvSpPr>
          <p:cNvPr id="8" name="TextBox 7"/>
          <p:cNvSpPr txBox="1"/>
          <p:nvPr/>
        </p:nvSpPr>
        <p:spPr>
          <a:xfrm>
            <a:off x="777240" y="4160520"/>
            <a:ext cx="7772400" cy="365760"/>
          </a:xfrm>
          <a:prstGeom prst="rect">
            <a:avLst/>
          </a:prstGeom>
          <a:noFill/>
        </p:spPr>
        <p:txBody>
          <a:bodyPr wrap="square" lIns="36576" tIns="27432" rIns="36576" bIns="27432" anchor="t">
            <a:spAutoFit/>
          </a:bodyPr>
          <a:lstStyle/>
          <a:p>
            <a:pPr algn="l">
              <a:spcAft>
                <a:spcPts val="800"/>
              </a:spcAft>
              <a:defRPr sz="1400" b="0">
                <a:solidFill>
                  <a:srgbClr val="EBF3FA"/>
                </a:solidFill>
                <a:latin typeface="Aptos"/>
              </a:defRPr>
            </a:pPr>
            <a:r>
              <a:t>Computer Science &amp; Information Technology  |  A.Y. 2026–27</a:t>
            </a:r>
          </a:p>
        </p:txBody>
      </p:sp>
      <p:sp>
        <p:nvSpPr>
          <p:cNvPr id="9" name="TextBox 8"/>
          <p:cNvSpPr txBox="1"/>
          <p:nvPr/>
        </p:nvSpPr>
        <p:spPr>
          <a:xfrm>
            <a:off x="777240" y="4800600"/>
            <a:ext cx="6217920" cy="685800"/>
          </a:xfrm>
          <a:prstGeom prst="rect">
            <a:avLst/>
          </a:prstGeom>
          <a:noFill/>
        </p:spPr>
        <p:txBody>
          <a:bodyPr wrap="square" lIns="36576" tIns="27432" rIns="36576" bIns="27432" anchor="t">
            <a:spAutoFit/>
          </a:bodyPr>
          <a:lstStyle/>
          <a:p>
            <a:pPr algn="l">
              <a:spcAft>
                <a:spcPts val="800"/>
              </a:spcAft>
              <a:defRPr sz="1700" b="1">
                <a:solidFill>
                  <a:srgbClr val="FFFFFF"/>
                </a:solidFill>
                <a:latin typeface="Aptos"/>
              </a:defRPr>
            </a:pPr>
            <a:r>
              <a:t>G. Manideep Patel  •  2520090100</a:t>
            </a:r>
          </a:p>
          <a:p>
            <a:pPr algn="l">
              <a:spcAft>
                <a:spcPts val="800"/>
              </a:spcAft>
              <a:defRPr sz="1700" b="1">
                <a:solidFill>
                  <a:srgbClr val="FFFFFF"/>
                </a:solidFill>
                <a:latin typeface="Aptos"/>
              </a:defRPr>
            </a:pPr>
            <a:r>
              <a:t>R. Sai Charan Reddi  •  2520090184</a:t>
            </a:r>
          </a:p>
        </p:txBody>
      </p:sp>
      <p:sp>
        <p:nvSpPr>
          <p:cNvPr id="10" name="TextBox 9"/>
          <p:cNvSpPr txBox="1"/>
          <p:nvPr/>
        </p:nvSpPr>
        <p:spPr>
          <a:xfrm>
            <a:off x="777240" y="5715000"/>
            <a:ext cx="6217920" cy="502920"/>
          </a:xfrm>
          <a:prstGeom prst="rect">
            <a:avLst/>
          </a:prstGeom>
          <a:noFill/>
        </p:spPr>
        <p:txBody>
          <a:bodyPr wrap="square" lIns="36576" tIns="27432" rIns="36576" bIns="27432" anchor="t">
            <a:spAutoFit/>
          </a:bodyPr>
          <a:lstStyle/>
          <a:p>
            <a:pPr algn="l">
              <a:spcAft>
                <a:spcPts val="800"/>
              </a:spcAft>
              <a:defRPr sz="1300" b="0">
                <a:solidFill>
                  <a:srgbClr val="B9CBDE"/>
                </a:solidFill>
                <a:latin typeface="Aptos"/>
              </a:defRPr>
            </a:pPr>
            <a:r>
              <a:t>Guided by Dr. Y. Lakshmi Prasanna</a:t>
            </a:r>
          </a:p>
          <a:p>
            <a:pPr algn="l">
              <a:spcAft>
                <a:spcPts val="800"/>
              </a:spcAft>
              <a:defRPr sz="1300" b="0">
                <a:solidFill>
                  <a:srgbClr val="B9CBDE"/>
                </a:solidFill>
                <a:latin typeface="Aptos"/>
              </a:defRPr>
            </a:pPr>
            <a:r>
              <a:t>Assistant Professor, CSIT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C37"/>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438912"/>
          </a:xfrm>
          <a:prstGeom prst="rect">
            <a:avLst/>
          </a:prstGeom>
          <a:noFill/>
        </p:spPr>
        <p:txBody>
          <a:bodyPr wrap="square" lIns="36576" tIns="27432" rIns="36576" bIns="27432" anchor="t">
            <a:spAutoFit/>
          </a:bodyPr>
          <a:lstStyle/>
          <a:p>
            <a:pPr algn="l">
              <a:spcAft>
                <a:spcPts val="800"/>
              </a:spcAft>
              <a:defRPr sz="2400" b="1">
                <a:solidFill>
                  <a:srgbClr val="2ABECD"/>
                </a:solidFill>
                <a:latin typeface="Aptos"/>
              </a:defRPr>
            </a:pPr>
            <a:r>
              <a:t>ABSTRACT</a:t>
            </a:r>
          </a:p>
        </p:txBody>
      </p:sp>
      <p:sp>
        <p:nvSpPr>
          <p:cNvPr id="3" name="Rectangle 2"/>
          <p:cNvSpPr/>
          <p:nvPr/>
        </p:nvSpPr>
        <p:spPr>
          <a:xfrm>
            <a:off x="603504" y="896112"/>
            <a:ext cx="1143000" cy="50292"/>
          </a:xfrm>
          <a:prstGeom prst="rect">
            <a:avLst/>
          </a:prstGeom>
          <a:solidFill>
            <a:srgbClr val="F79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0" y="6419088"/>
            <a:ext cx="502920" cy="228600"/>
          </a:xfrm>
          <a:prstGeom prst="rect">
            <a:avLst/>
          </a:prstGeom>
          <a:noFill/>
        </p:spPr>
        <p:txBody>
          <a:bodyPr wrap="square" lIns="36576" tIns="27432" rIns="36576" bIns="27432" anchor="t">
            <a:spAutoFit/>
          </a:bodyPr>
          <a:lstStyle/>
          <a:p>
            <a:pPr algn="r">
              <a:spcAft>
                <a:spcPts val="800"/>
              </a:spcAft>
              <a:defRPr sz="1000" b="0">
                <a:solidFill>
                  <a:srgbClr val="B9CBDE"/>
                </a:solidFill>
                <a:latin typeface="Aptos"/>
              </a:defRPr>
            </a:pPr>
            <a:r>
              <a:t>02</a:t>
            </a:r>
          </a:p>
        </p:txBody>
      </p:sp>
      <p:sp>
        <p:nvSpPr>
          <p:cNvPr id="5" name="TextBox 4"/>
          <p:cNvSpPr txBox="1"/>
          <p:nvPr/>
        </p:nvSpPr>
        <p:spPr>
          <a:xfrm>
            <a:off x="777240" y="1234440"/>
            <a:ext cx="10698480" cy="4389120"/>
          </a:xfrm>
          <a:prstGeom prst="rect">
            <a:avLst/>
          </a:prstGeom>
          <a:noFill/>
        </p:spPr>
        <p:txBody>
          <a:bodyPr wrap="square" lIns="36576" tIns="27432" rIns="36576" bIns="27432" anchor="t">
            <a:spAutoFit/>
          </a:bodyPr>
          <a:lstStyle/>
          <a:p>
            <a:pPr algn="l">
              <a:spcAft>
                <a:spcPts val="800"/>
              </a:spcAft>
              <a:defRPr sz="1900" b="0">
                <a:solidFill>
                  <a:srgbClr val="EBF3FA"/>
                </a:solidFill>
                <a:latin typeface="Aptos"/>
              </a:defRPr>
            </a:pPr>
            <a:r>
              <a:t>Sports injuries can reduce athletic performance, interrupt training, and cause long recovery periods. This project proposes a machine learning approach to predict injury risk using Random Forest and Support Vector Machine (SVM). The model uses athlete information such as age, gender, BMI, sport type, weekly training hours, training intensity, previous injury history, fitness level, sleep duration, recovery time, and workload. The data is cleaned and prepared by handling missing values, encoding categorical features, scaling values, and selecting relevant features. The dataset is split into training and testing sets. Random Forest can model complex relationships through an ensemble of decision trees, while SVM classifies records using a decision boundary. Their performance is planned to be compared using accuracy, precision, recall, F1-score, and a confusion matrix. The expected result is an early-warning prediction that can help coaches, trainers, physiotherapists, and sports physicians plan training, recovery, and workload management. The system is intended to support preventive decisions; it does not replace professional medical assessment.</a:t>
            </a:r>
          </a:p>
        </p:txBody>
      </p:sp>
      <p:sp>
        <p:nvSpPr>
          <p:cNvPr id="6" name="TextBox 5"/>
          <p:cNvSpPr txBox="1"/>
          <p:nvPr/>
        </p:nvSpPr>
        <p:spPr>
          <a:xfrm>
            <a:off x="822960" y="5715000"/>
            <a:ext cx="10515600" cy="411480"/>
          </a:xfrm>
          <a:prstGeom prst="rect">
            <a:avLst/>
          </a:prstGeom>
          <a:noFill/>
        </p:spPr>
        <p:txBody>
          <a:bodyPr wrap="square" lIns="36576" tIns="27432" rIns="36576" bIns="27432" anchor="t">
            <a:spAutoFit/>
          </a:bodyPr>
          <a:lstStyle/>
          <a:p>
            <a:pPr algn="l">
              <a:spcAft>
                <a:spcPts val="800"/>
              </a:spcAft>
              <a:defRPr sz="1600" b="1">
                <a:solidFill>
                  <a:srgbClr val="2ABECD"/>
                </a:solidFill>
                <a:latin typeface="Aptos"/>
              </a:defRPr>
            </a:pPr>
            <a:r>
              <a:t>KEY IDEA  •  Use athlete and training data to identify possible injury risk early.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C37"/>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438912"/>
          </a:xfrm>
          <a:prstGeom prst="rect">
            <a:avLst/>
          </a:prstGeom>
          <a:noFill/>
        </p:spPr>
        <p:txBody>
          <a:bodyPr wrap="square" lIns="36576" tIns="27432" rIns="36576" bIns="27432" anchor="t">
            <a:spAutoFit/>
          </a:bodyPr>
          <a:lstStyle/>
          <a:p>
            <a:pPr algn="l">
              <a:spcAft>
                <a:spcPts val="800"/>
              </a:spcAft>
              <a:defRPr sz="2400" b="1">
                <a:solidFill>
                  <a:srgbClr val="2ABECD"/>
                </a:solidFill>
                <a:latin typeface="Aptos"/>
              </a:defRPr>
            </a:pPr>
            <a:r>
              <a:t>EXPECTED RESULTS &amp; EVALUATION</a:t>
            </a:r>
          </a:p>
        </p:txBody>
      </p:sp>
      <p:sp>
        <p:nvSpPr>
          <p:cNvPr id="3" name="Rectangle 2"/>
          <p:cNvSpPr/>
          <p:nvPr/>
        </p:nvSpPr>
        <p:spPr>
          <a:xfrm>
            <a:off x="603504" y="896112"/>
            <a:ext cx="1143000" cy="50292"/>
          </a:xfrm>
          <a:prstGeom prst="rect">
            <a:avLst/>
          </a:prstGeom>
          <a:solidFill>
            <a:srgbClr val="F79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55680" y="6419088"/>
            <a:ext cx="502920" cy="228600"/>
          </a:xfrm>
          <a:prstGeom prst="rect">
            <a:avLst/>
          </a:prstGeom>
          <a:noFill/>
        </p:spPr>
        <p:txBody>
          <a:bodyPr wrap="square" lIns="36576" tIns="27432" rIns="36576" bIns="27432" anchor="t">
            <a:spAutoFit/>
          </a:bodyPr>
          <a:lstStyle/>
          <a:p>
            <a:pPr algn="r">
              <a:spcAft>
                <a:spcPts val="800"/>
              </a:spcAft>
              <a:defRPr sz="1000" b="0">
                <a:solidFill>
                  <a:srgbClr val="B9CBDE"/>
                </a:solidFill>
                <a:latin typeface="Aptos"/>
              </a:defRPr>
            </a:pPr>
            <a:r>
              <a:t>08</a:t>
            </a:r>
          </a:p>
        </p:txBody>
      </p:sp>
      <p:sp>
        <p:nvSpPr>
          <p:cNvPr id="5" name="Rounded Rectangle 4"/>
          <p:cNvSpPr/>
          <p:nvPr/>
        </p:nvSpPr>
        <p:spPr>
          <a:xfrm>
            <a:off x="777240" y="1325880"/>
            <a:ext cx="3383280" cy="2331720"/>
          </a:xfrm>
          <a:prstGeom prst="roundRect">
            <a:avLst/>
          </a:prstGeom>
          <a:solidFill>
            <a:srgbClr val="172D4C"/>
          </a:solidFill>
          <a:ln>
            <a:solidFill>
              <a:srgbClr val="2F4B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325880"/>
            <a:ext cx="64008" cy="2331720"/>
          </a:xfrm>
          <a:prstGeom prst="rect">
            <a:avLst/>
          </a:prstGeom>
          <a:solidFill>
            <a:srgbClr val="21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490472"/>
            <a:ext cx="3017520" cy="347472"/>
          </a:xfrm>
          <a:prstGeom prst="rect">
            <a:avLst/>
          </a:prstGeom>
          <a:noFill/>
        </p:spPr>
        <p:txBody>
          <a:bodyPr wrap="square" lIns="36576" tIns="27432" rIns="36576" bIns="27432" anchor="t">
            <a:spAutoFit/>
          </a:bodyPr>
          <a:lstStyle/>
          <a:p>
            <a:pPr algn="l">
              <a:spcAft>
                <a:spcPts val="800"/>
              </a:spcAft>
              <a:defRPr sz="1700" b="1">
                <a:solidFill>
                  <a:srgbClr val="FFFFFF"/>
                </a:solidFill>
                <a:latin typeface="Aptos"/>
              </a:defRPr>
            </a:pPr>
            <a:r>
              <a:t>PREDICTION</a:t>
            </a:r>
          </a:p>
        </p:txBody>
      </p:sp>
      <p:sp>
        <p:nvSpPr>
          <p:cNvPr id="8" name="TextBox 7"/>
          <p:cNvSpPr txBox="1"/>
          <p:nvPr/>
        </p:nvSpPr>
        <p:spPr>
          <a:xfrm>
            <a:off x="978408" y="1965960"/>
            <a:ext cx="3017520" cy="1581912"/>
          </a:xfrm>
          <a:prstGeom prst="rect">
            <a:avLst/>
          </a:prstGeom>
          <a:noFill/>
        </p:spPr>
        <p:txBody>
          <a:bodyPr wrap="square" lIns="36576" tIns="27432" rIns="36576" bIns="27432" anchor="t">
            <a:spAutoFit/>
          </a:bodyPr>
          <a:lstStyle/>
          <a:p>
            <a:pPr algn="l">
              <a:spcAft>
                <a:spcPts val="800"/>
              </a:spcAft>
              <a:defRPr sz="1600" b="0">
                <a:solidFill>
                  <a:srgbClr val="EBF3FA"/>
                </a:solidFill>
                <a:latin typeface="Aptos"/>
              </a:defRPr>
            </a:pPr>
            <a:r>
              <a:t>Classify athletes into injury-risk categories using the prepared input features.</a:t>
            </a:r>
          </a:p>
        </p:txBody>
      </p:sp>
      <p:sp>
        <p:nvSpPr>
          <p:cNvPr id="9" name="Rounded Rectangle 8"/>
          <p:cNvSpPr/>
          <p:nvPr/>
        </p:nvSpPr>
        <p:spPr>
          <a:xfrm>
            <a:off x="4389120" y="1325880"/>
            <a:ext cx="3383280" cy="2331720"/>
          </a:xfrm>
          <a:prstGeom prst="roundRect">
            <a:avLst/>
          </a:prstGeom>
          <a:solidFill>
            <a:srgbClr val="172D4C"/>
          </a:solidFill>
          <a:ln>
            <a:solidFill>
              <a:srgbClr val="2F4B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325880"/>
            <a:ext cx="64008" cy="2331720"/>
          </a:xfrm>
          <a:prstGeom prst="rect">
            <a:avLst/>
          </a:prstGeom>
          <a:solidFill>
            <a:srgbClr val="2A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490472"/>
            <a:ext cx="3017520" cy="347472"/>
          </a:xfrm>
          <a:prstGeom prst="rect">
            <a:avLst/>
          </a:prstGeom>
          <a:noFill/>
        </p:spPr>
        <p:txBody>
          <a:bodyPr wrap="square" lIns="36576" tIns="27432" rIns="36576" bIns="27432" anchor="t">
            <a:spAutoFit/>
          </a:bodyPr>
          <a:lstStyle/>
          <a:p>
            <a:pPr algn="l">
              <a:spcAft>
                <a:spcPts val="800"/>
              </a:spcAft>
              <a:defRPr sz="1700" b="1">
                <a:solidFill>
                  <a:srgbClr val="FFFFFF"/>
                </a:solidFill>
                <a:latin typeface="Aptos"/>
              </a:defRPr>
            </a:pPr>
            <a:r>
              <a:t>MODEL COMPARISON</a:t>
            </a:r>
          </a:p>
        </p:txBody>
      </p:sp>
      <p:sp>
        <p:nvSpPr>
          <p:cNvPr id="12" name="TextBox 11"/>
          <p:cNvSpPr txBox="1"/>
          <p:nvPr/>
        </p:nvSpPr>
        <p:spPr>
          <a:xfrm>
            <a:off x="4590288" y="1965960"/>
            <a:ext cx="3017520" cy="1581912"/>
          </a:xfrm>
          <a:prstGeom prst="rect">
            <a:avLst/>
          </a:prstGeom>
          <a:noFill/>
        </p:spPr>
        <p:txBody>
          <a:bodyPr wrap="square" lIns="36576" tIns="27432" rIns="36576" bIns="27432" anchor="t">
            <a:spAutoFit/>
          </a:bodyPr>
          <a:lstStyle/>
          <a:p>
            <a:pPr algn="l">
              <a:spcAft>
                <a:spcPts val="800"/>
              </a:spcAft>
              <a:defRPr sz="1600" b="0">
                <a:solidFill>
                  <a:srgbClr val="EBF3FA"/>
                </a:solidFill>
                <a:latin typeface="Aptos"/>
              </a:defRPr>
            </a:pPr>
            <a:r>
              <a:t>Compare Random Forest and SVM on the same train/test split.</a:t>
            </a:r>
          </a:p>
        </p:txBody>
      </p:sp>
      <p:sp>
        <p:nvSpPr>
          <p:cNvPr id="13" name="Rounded Rectangle 12"/>
          <p:cNvSpPr/>
          <p:nvPr/>
        </p:nvSpPr>
        <p:spPr>
          <a:xfrm>
            <a:off x="8001000" y="1325880"/>
            <a:ext cx="3383280" cy="2331720"/>
          </a:xfrm>
          <a:prstGeom prst="roundRect">
            <a:avLst/>
          </a:prstGeom>
          <a:solidFill>
            <a:srgbClr val="172D4C"/>
          </a:solidFill>
          <a:ln>
            <a:solidFill>
              <a:srgbClr val="2F4B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01000" y="1325880"/>
            <a:ext cx="64008" cy="2331720"/>
          </a:xfrm>
          <a:prstGeom prst="rect">
            <a:avLst/>
          </a:prstGeom>
          <a:solidFill>
            <a:srgbClr val="F79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02168" y="1490472"/>
            <a:ext cx="3017520" cy="347472"/>
          </a:xfrm>
          <a:prstGeom prst="rect">
            <a:avLst/>
          </a:prstGeom>
          <a:noFill/>
        </p:spPr>
        <p:txBody>
          <a:bodyPr wrap="square" lIns="36576" tIns="27432" rIns="36576" bIns="27432" anchor="t">
            <a:spAutoFit/>
          </a:bodyPr>
          <a:lstStyle/>
          <a:p>
            <a:pPr algn="l">
              <a:spcAft>
                <a:spcPts val="800"/>
              </a:spcAft>
              <a:defRPr sz="1700" b="1">
                <a:solidFill>
                  <a:srgbClr val="FFFFFF"/>
                </a:solidFill>
                <a:latin typeface="Aptos"/>
              </a:defRPr>
            </a:pPr>
            <a:r>
              <a:t>METRICS</a:t>
            </a:r>
          </a:p>
        </p:txBody>
      </p:sp>
      <p:sp>
        <p:nvSpPr>
          <p:cNvPr id="16" name="TextBox 15"/>
          <p:cNvSpPr txBox="1"/>
          <p:nvPr/>
        </p:nvSpPr>
        <p:spPr>
          <a:xfrm>
            <a:off x="8202168" y="1965960"/>
            <a:ext cx="3017520" cy="1581912"/>
          </a:xfrm>
          <a:prstGeom prst="rect">
            <a:avLst/>
          </a:prstGeom>
          <a:noFill/>
        </p:spPr>
        <p:txBody>
          <a:bodyPr wrap="square" lIns="36576" tIns="27432" rIns="36576" bIns="27432" anchor="t">
            <a:spAutoFit/>
          </a:bodyPr>
          <a:lstStyle/>
          <a:p>
            <a:pPr algn="l">
              <a:spcAft>
                <a:spcPts val="800"/>
              </a:spcAft>
              <a:defRPr sz="1600" b="0">
                <a:solidFill>
                  <a:srgbClr val="EBF3FA"/>
                </a:solidFill>
                <a:latin typeface="Aptos"/>
              </a:defRPr>
            </a:pPr>
            <a:r>
              <a:t>Accuracy, precision, recall, F1-score and confusion matrix.</a:t>
            </a:r>
          </a:p>
        </p:txBody>
      </p:sp>
      <p:sp>
        <p:nvSpPr>
          <p:cNvPr id="17" name="TextBox 16"/>
          <p:cNvSpPr txBox="1"/>
          <p:nvPr/>
        </p:nvSpPr>
        <p:spPr>
          <a:xfrm>
            <a:off x="822960" y="4160520"/>
            <a:ext cx="2286000" cy="320040"/>
          </a:xfrm>
          <a:prstGeom prst="rect">
            <a:avLst/>
          </a:prstGeom>
          <a:noFill/>
        </p:spPr>
        <p:txBody>
          <a:bodyPr wrap="square" lIns="36576" tIns="27432" rIns="36576" bIns="27432" anchor="t">
            <a:spAutoFit/>
          </a:bodyPr>
          <a:lstStyle/>
          <a:p>
            <a:pPr algn="l">
              <a:spcAft>
                <a:spcPts val="800"/>
              </a:spcAft>
              <a:defRPr sz="1700" b="1">
                <a:solidFill>
                  <a:srgbClr val="2ABECD"/>
                </a:solidFill>
                <a:latin typeface="Aptos"/>
              </a:defRPr>
            </a:pPr>
            <a:r>
              <a:t>POTENTIAL USE</a:t>
            </a:r>
          </a:p>
        </p:txBody>
      </p:sp>
      <p:sp>
        <p:nvSpPr>
          <p:cNvPr id="18" name="TextBox 17"/>
          <p:cNvSpPr txBox="1"/>
          <p:nvPr/>
        </p:nvSpPr>
        <p:spPr>
          <a:xfrm>
            <a:off x="822960" y="4617720"/>
            <a:ext cx="10424160" cy="777240"/>
          </a:xfrm>
          <a:prstGeom prst="rect">
            <a:avLst/>
          </a:prstGeom>
          <a:noFill/>
        </p:spPr>
        <p:txBody>
          <a:bodyPr wrap="square" lIns="36576" tIns="27432" rIns="36576" bIns="27432" anchor="t">
            <a:spAutoFit/>
          </a:bodyPr>
          <a:lstStyle/>
          <a:p>
            <a:pPr algn="l">
              <a:spcAft>
                <a:spcPts val="800"/>
              </a:spcAft>
              <a:defRPr sz="2200" b="1">
                <a:solidFill>
                  <a:srgbClr val="FFFFFF"/>
                </a:solidFill>
                <a:latin typeface="Aptos"/>
              </a:defRPr>
            </a:pPr>
            <a:r>
              <a:t>Support workload management, personalised training plans, recovery scheduling and early preventive action.</a:t>
            </a:r>
          </a:p>
        </p:txBody>
      </p:sp>
      <p:sp>
        <p:nvSpPr>
          <p:cNvPr id="19" name="TextBox 18"/>
          <p:cNvSpPr txBox="1"/>
          <p:nvPr/>
        </p:nvSpPr>
        <p:spPr>
          <a:xfrm>
            <a:off x="822960" y="5669280"/>
            <a:ext cx="10698480" cy="411480"/>
          </a:xfrm>
          <a:prstGeom prst="rect">
            <a:avLst/>
          </a:prstGeom>
          <a:noFill/>
        </p:spPr>
        <p:txBody>
          <a:bodyPr wrap="square" lIns="36576" tIns="27432" rIns="36576" bIns="27432" anchor="t">
            <a:spAutoFit/>
          </a:bodyPr>
          <a:lstStyle/>
          <a:p>
            <a:pPr algn="l">
              <a:spcAft>
                <a:spcPts val="800"/>
              </a:spcAft>
              <a:defRPr sz="1200" b="0">
                <a:solidFill>
                  <a:srgbClr val="B9CBDE"/>
                </a:solidFill>
                <a:latin typeface="Aptos"/>
              </a:defRPr>
            </a:pPr>
            <a:r>
              <a:t>These are expected outcomes described by the abstract; no measured accuracy or completed experimental result is provided.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C37"/>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438912"/>
          </a:xfrm>
          <a:prstGeom prst="rect">
            <a:avLst/>
          </a:prstGeom>
          <a:noFill/>
        </p:spPr>
        <p:txBody>
          <a:bodyPr wrap="square" lIns="36576" tIns="27432" rIns="36576" bIns="27432" anchor="t">
            <a:spAutoFit/>
          </a:bodyPr>
          <a:lstStyle/>
          <a:p>
            <a:pPr>
              <a:spcAft>
                <a:spcPts val="900"/>
              </a:spcAft>
              <a:defRPr sz="2400" b="1">
                <a:solidFill>
                  <a:srgbClr val="2ABECD"/>
                </a:solidFill>
                <a:latin typeface="Aptos"/>
              </a:defRPr>
            </a:pPr>
            <a:r>
              <a:t>CONCLUSION</a:t>
            </a:r>
          </a:p>
        </p:txBody>
      </p:sp>
      <p:sp>
        <p:nvSpPr>
          <p:cNvPr id="3" name="Rectangle 2"/>
          <p:cNvSpPr/>
          <p:nvPr/>
        </p:nvSpPr>
        <p:spPr>
          <a:xfrm>
            <a:off x="603504" y="896112"/>
            <a:ext cx="1143000" cy="50292"/>
          </a:xfrm>
          <a:prstGeom prst="rect">
            <a:avLst/>
          </a:prstGeom>
          <a:solidFill>
            <a:srgbClr val="F79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508760"/>
            <a:ext cx="3383280" cy="2423160"/>
          </a:xfrm>
          <a:prstGeom prst="roundRect">
            <a:avLst/>
          </a:prstGeom>
          <a:solidFill>
            <a:srgbClr val="172D4C"/>
          </a:solidFill>
          <a:ln>
            <a:solidFill>
              <a:srgbClr val="2F4B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508760"/>
            <a:ext cx="64008" cy="2423160"/>
          </a:xfrm>
          <a:prstGeom prst="rect">
            <a:avLst/>
          </a:prstGeom>
          <a:solidFill>
            <a:srgbClr val="21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1719072"/>
            <a:ext cx="2999232" cy="502920"/>
          </a:xfrm>
          <a:prstGeom prst="rect">
            <a:avLst/>
          </a:prstGeom>
          <a:noFill/>
        </p:spPr>
        <p:txBody>
          <a:bodyPr wrap="square" lIns="36576" tIns="27432" rIns="36576" bIns="27432" anchor="t">
            <a:spAutoFit/>
          </a:bodyPr>
          <a:lstStyle/>
          <a:p>
            <a:pPr>
              <a:spcAft>
                <a:spcPts val="900"/>
              </a:spcAft>
              <a:defRPr sz="1600" b="1">
                <a:solidFill>
                  <a:srgbClr val="FFFFFF"/>
                </a:solidFill>
                <a:latin typeface="Aptos"/>
              </a:defRPr>
            </a:pPr>
            <a:r>
              <a:t>EARLY RISK IDENTIFICATION</a:t>
            </a:r>
          </a:p>
        </p:txBody>
      </p:sp>
      <p:sp>
        <p:nvSpPr>
          <p:cNvPr id="7" name="TextBox 6"/>
          <p:cNvSpPr txBox="1"/>
          <p:nvPr/>
        </p:nvSpPr>
        <p:spPr>
          <a:xfrm>
            <a:off x="978408" y="2331720"/>
            <a:ext cx="2971800" cy="1325880"/>
          </a:xfrm>
          <a:prstGeom prst="rect">
            <a:avLst/>
          </a:prstGeom>
          <a:noFill/>
        </p:spPr>
        <p:txBody>
          <a:bodyPr wrap="square" lIns="36576" tIns="27432" rIns="36576" bIns="27432" anchor="t">
            <a:spAutoFit/>
          </a:bodyPr>
          <a:lstStyle/>
          <a:p>
            <a:pPr>
              <a:spcAft>
                <a:spcPts val="900"/>
              </a:spcAft>
              <a:defRPr sz="1500" b="0">
                <a:solidFill>
                  <a:srgbClr val="EBF3FA"/>
                </a:solidFill>
                <a:latin typeface="Aptos"/>
              </a:defRPr>
            </a:pPr>
            <a:r>
              <a:t>The proposed system uses athlete and training-related data to identify possible sports injury risk before an injury occurs.</a:t>
            </a:r>
          </a:p>
        </p:txBody>
      </p:sp>
      <p:sp>
        <p:nvSpPr>
          <p:cNvPr id="8" name="Rounded Rectangle 7"/>
          <p:cNvSpPr/>
          <p:nvPr/>
        </p:nvSpPr>
        <p:spPr>
          <a:xfrm>
            <a:off x="4389120" y="1508760"/>
            <a:ext cx="3383280" cy="2423160"/>
          </a:xfrm>
          <a:prstGeom prst="roundRect">
            <a:avLst/>
          </a:prstGeom>
          <a:solidFill>
            <a:srgbClr val="172D4C"/>
          </a:solidFill>
          <a:ln>
            <a:solidFill>
              <a:srgbClr val="2F4B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89120" y="1508760"/>
            <a:ext cx="64008" cy="2423160"/>
          </a:xfrm>
          <a:prstGeom prst="rect">
            <a:avLst/>
          </a:prstGeom>
          <a:solidFill>
            <a:srgbClr val="2A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0288" y="1719072"/>
            <a:ext cx="2999232" cy="502920"/>
          </a:xfrm>
          <a:prstGeom prst="rect">
            <a:avLst/>
          </a:prstGeom>
          <a:noFill/>
        </p:spPr>
        <p:txBody>
          <a:bodyPr wrap="square" lIns="36576" tIns="27432" rIns="36576" bIns="27432" anchor="t">
            <a:spAutoFit/>
          </a:bodyPr>
          <a:lstStyle/>
          <a:p>
            <a:pPr>
              <a:spcAft>
                <a:spcPts val="900"/>
              </a:spcAft>
              <a:defRPr sz="1600" b="1">
                <a:solidFill>
                  <a:srgbClr val="FFFFFF"/>
                </a:solidFill>
                <a:latin typeface="Aptos"/>
              </a:defRPr>
            </a:pPr>
            <a:r>
              <a:t>MACHINE LEARNING</a:t>
            </a:r>
          </a:p>
        </p:txBody>
      </p:sp>
      <p:sp>
        <p:nvSpPr>
          <p:cNvPr id="11" name="TextBox 10"/>
          <p:cNvSpPr txBox="1"/>
          <p:nvPr/>
        </p:nvSpPr>
        <p:spPr>
          <a:xfrm>
            <a:off x="4590288" y="2331720"/>
            <a:ext cx="2971800" cy="1325880"/>
          </a:xfrm>
          <a:prstGeom prst="rect">
            <a:avLst/>
          </a:prstGeom>
          <a:noFill/>
        </p:spPr>
        <p:txBody>
          <a:bodyPr wrap="square" lIns="36576" tIns="27432" rIns="36576" bIns="27432" anchor="t">
            <a:spAutoFit/>
          </a:bodyPr>
          <a:lstStyle/>
          <a:p>
            <a:pPr>
              <a:spcAft>
                <a:spcPts val="900"/>
              </a:spcAft>
              <a:defRPr sz="1500" b="0">
                <a:solidFill>
                  <a:srgbClr val="EBF3FA"/>
                </a:solidFill>
                <a:latin typeface="Aptos"/>
              </a:defRPr>
            </a:pPr>
            <a:r>
              <a:t>Random Forest and SVM are compared using accuracy, precision, recall, F1-score and a confusion matrix.</a:t>
            </a:r>
          </a:p>
        </p:txBody>
      </p:sp>
      <p:sp>
        <p:nvSpPr>
          <p:cNvPr id="12" name="Rounded Rectangle 11"/>
          <p:cNvSpPr/>
          <p:nvPr/>
        </p:nvSpPr>
        <p:spPr>
          <a:xfrm>
            <a:off x="8001000" y="1508760"/>
            <a:ext cx="3383280" cy="2423160"/>
          </a:xfrm>
          <a:prstGeom prst="roundRect">
            <a:avLst/>
          </a:prstGeom>
          <a:solidFill>
            <a:srgbClr val="172D4C"/>
          </a:solidFill>
          <a:ln>
            <a:solidFill>
              <a:srgbClr val="2F4B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01000" y="1508760"/>
            <a:ext cx="64008" cy="2423160"/>
          </a:xfrm>
          <a:prstGeom prst="rect">
            <a:avLst/>
          </a:prstGeom>
          <a:solidFill>
            <a:srgbClr val="F79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02168" y="1719072"/>
            <a:ext cx="2999232" cy="502920"/>
          </a:xfrm>
          <a:prstGeom prst="rect">
            <a:avLst/>
          </a:prstGeom>
          <a:noFill/>
        </p:spPr>
        <p:txBody>
          <a:bodyPr wrap="square" lIns="36576" tIns="27432" rIns="36576" bIns="27432" anchor="t">
            <a:spAutoFit/>
          </a:bodyPr>
          <a:lstStyle/>
          <a:p>
            <a:pPr>
              <a:spcAft>
                <a:spcPts val="900"/>
              </a:spcAft>
              <a:defRPr sz="1600" b="1">
                <a:solidFill>
                  <a:srgbClr val="FFFFFF"/>
                </a:solidFill>
                <a:latin typeface="Aptos"/>
              </a:defRPr>
            </a:pPr>
            <a:r>
              <a:t>PRACTICAL VALUE</a:t>
            </a:r>
          </a:p>
        </p:txBody>
      </p:sp>
      <p:sp>
        <p:nvSpPr>
          <p:cNvPr id="15" name="TextBox 14"/>
          <p:cNvSpPr txBox="1"/>
          <p:nvPr/>
        </p:nvSpPr>
        <p:spPr>
          <a:xfrm>
            <a:off x="8202168" y="2331720"/>
            <a:ext cx="2971800" cy="1325880"/>
          </a:xfrm>
          <a:prstGeom prst="rect">
            <a:avLst/>
          </a:prstGeom>
          <a:noFill/>
        </p:spPr>
        <p:txBody>
          <a:bodyPr wrap="square" lIns="36576" tIns="27432" rIns="36576" bIns="27432" anchor="t">
            <a:spAutoFit/>
          </a:bodyPr>
          <a:lstStyle/>
          <a:p>
            <a:pPr>
              <a:spcAft>
                <a:spcPts val="900"/>
              </a:spcAft>
              <a:defRPr sz="1500" b="0">
                <a:solidFill>
                  <a:srgbClr val="EBF3FA"/>
                </a:solidFill>
                <a:latin typeface="Aptos"/>
              </a:defRPr>
            </a:pPr>
            <a:r>
              <a:t>Predictions can support coaches and healthcare professionals with workload planning, recovery schedules and preventive strategies.</a:t>
            </a:r>
          </a:p>
        </p:txBody>
      </p:sp>
      <p:sp>
        <p:nvSpPr>
          <p:cNvPr id="16" name="TextBox 15"/>
          <p:cNvSpPr txBox="1"/>
          <p:nvPr/>
        </p:nvSpPr>
        <p:spPr>
          <a:xfrm>
            <a:off x="822960" y="4434840"/>
            <a:ext cx="10515600" cy="1005840"/>
          </a:xfrm>
          <a:prstGeom prst="rect">
            <a:avLst/>
          </a:prstGeom>
          <a:noFill/>
        </p:spPr>
        <p:txBody>
          <a:bodyPr wrap="square" lIns="36576" tIns="27432" rIns="36576" bIns="27432" anchor="t">
            <a:spAutoFit/>
          </a:bodyPr>
          <a:lstStyle/>
          <a:p>
            <a:pPr>
              <a:spcAft>
                <a:spcPts val="900"/>
              </a:spcAft>
              <a:defRPr sz="2100" b="1">
                <a:solidFill>
                  <a:srgbClr val="FFFFFF"/>
                </a:solidFill>
                <a:latin typeface="Aptos"/>
              </a:defRPr>
            </a:pPr>
            <a:r>
              <a:t>Overall, the project demonstrates how machine learning can support safer, data-driven sports training. The model is intended to assist—not replace—professional medical assessment.</a:t>
            </a:r>
          </a:p>
        </p:txBody>
      </p:sp>
      <p:sp>
        <p:nvSpPr>
          <p:cNvPr id="17" name="TextBox 16"/>
          <p:cNvSpPr txBox="1"/>
          <p:nvPr/>
        </p:nvSpPr>
        <p:spPr>
          <a:xfrm>
            <a:off x="822960" y="5806440"/>
            <a:ext cx="10607040" cy="365760"/>
          </a:xfrm>
          <a:prstGeom prst="rect">
            <a:avLst/>
          </a:prstGeom>
          <a:noFill/>
        </p:spPr>
        <p:txBody>
          <a:bodyPr wrap="square" lIns="36576" tIns="27432" rIns="36576" bIns="27432" anchor="t">
            <a:spAutoFit/>
          </a:bodyPr>
          <a:lstStyle/>
          <a:p>
            <a:pPr>
              <a:spcAft>
                <a:spcPts val="900"/>
              </a:spcAft>
              <a:defRPr sz="1200" b="0">
                <a:solidFill>
                  <a:srgbClr val="B9CBDE"/>
                </a:solidFill>
                <a:latin typeface="Aptos"/>
              </a:defRPr>
            </a:pPr>
            <a:r>
              <a:t>Note: Final effectiveness should be confirmed using actual test results and evaluation metrics.</a:t>
            </a:r>
          </a:p>
        </p:txBody>
      </p:sp>
      <p:sp>
        <p:nvSpPr>
          <p:cNvPr id="18" name="TextBox 17"/>
          <p:cNvSpPr txBox="1"/>
          <p:nvPr/>
        </p:nvSpPr>
        <p:spPr>
          <a:xfrm>
            <a:off x="11155680" y="6419088"/>
            <a:ext cx="502920" cy="228600"/>
          </a:xfrm>
          <a:prstGeom prst="rect">
            <a:avLst/>
          </a:prstGeom>
          <a:noFill/>
        </p:spPr>
        <p:txBody>
          <a:bodyPr wrap="square" lIns="36576" tIns="27432" rIns="36576" bIns="27432" anchor="t">
            <a:spAutoFit/>
          </a:bodyPr>
          <a:lstStyle/>
          <a:p>
            <a:pPr>
              <a:spcAft>
                <a:spcPts val="900"/>
              </a:spcAft>
              <a:defRPr sz="1000" b="0">
                <a:solidFill>
                  <a:srgbClr val="B9CBDE"/>
                </a:solidFill>
                <a:latin typeface="Aptos"/>
              </a:defRPr>
            </a:pPr>
            <a:r>
              <a:t>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C37"/>
        </a:solidFill>
        <a:effectLst/>
      </p:bgPr>
    </p:bg>
    <p:spTree>
      <p:nvGrpSpPr>
        <p:cNvPr id="1" name=""/>
        <p:cNvGrpSpPr/>
        <p:nvPr/>
      </p:nvGrpSpPr>
      <p:grpSpPr>
        <a:xfrm>
          <a:off x="0" y="0"/>
          <a:ext cx="0" cy="0"/>
          <a:chOff x="0" y="0"/>
          <a:chExt cx="0" cy="0"/>
        </a:xfrm>
      </p:grpSpPr>
      <p:sp>
        <p:nvSpPr>
          <p:cNvPr id="2" name="Rectangle 1"/>
          <p:cNvSpPr/>
          <p:nvPr/>
        </p:nvSpPr>
        <p:spPr>
          <a:xfrm>
            <a:off x="822960" y="1143000"/>
            <a:ext cx="731520" cy="73152"/>
          </a:xfrm>
          <a:prstGeom prst="rect">
            <a:avLst/>
          </a:prstGeom>
          <a:solidFill>
            <a:srgbClr val="2ABE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645920" y="1143000"/>
            <a:ext cx="320040" cy="73152"/>
          </a:xfrm>
          <a:prstGeom prst="rect">
            <a:avLst/>
          </a:prstGeom>
          <a:solidFill>
            <a:srgbClr val="F79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057400" y="1143000"/>
            <a:ext cx="502920" cy="73152"/>
          </a:xfrm>
          <a:prstGeom prst="rect">
            <a:avLst/>
          </a:prstGeom>
          <a:solidFill>
            <a:srgbClr val="21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965960"/>
            <a:ext cx="7772400" cy="1005840"/>
          </a:xfrm>
          <a:prstGeom prst="rect">
            <a:avLst/>
          </a:prstGeom>
          <a:noFill/>
        </p:spPr>
        <p:txBody>
          <a:bodyPr wrap="square" lIns="36576" tIns="27432" rIns="36576" bIns="27432" anchor="t">
            <a:spAutoFit/>
          </a:bodyPr>
          <a:lstStyle/>
          <a:p>
            <a:pPr algn="l">
              <a:spcAft>
                <a:spcPts val="800"/>
              </a:spcAft>
              <a:defRPr sz="4200" b="1">
                <a:solidFill>
                  <a:srgbClr val="FFFFFF"/>
                </a:solidFill>
                <a:latin typeface="Aptos"/>
              </a:defRPr>
            </a:pPr>
            <a:r>
              <a:t>THANK YOU</a:t>
            </a:r>
          </a:p>
        </p:txBody>
      </p:sp>
      <p:sp>
        <p:nvSpPr>
          <p:cNvPr id="6" name="TextBox 5"/>
          <p:cNvSpPr txBox="1"/>
          <p:nvPr/>
        </p:nvSpPr>
        <p:spPr>
          <a:xfrm>
            <a:off x="868680" y="3246120"/>
            <a:ext cx="9875520" cy="640080"/>
          </a:xfrm>
          <a:prstGeom prst="rect">
            <a:avLst/>
          </a:prstGeom>
          <a:noFill/>
        </p:spPr>
        <p:txBody>
          <a:bodyPr wrap="square" lIns="36576" tIns="27432" rIns="36576" bIns="27432" anchor="t">
            <a:spAutoFit/>
          </a:bodyPr>
          <a:lstStyle/>
          <a:p>
            <a:pPr algn="l">
              <a:spcAft>
                <a:spcPts val="800"/>
              </a:spcAft>
              <a:defRPr sz="2200" b="1">
                <a:solidFill>
                  <a:srgbClr val="2ABECD"/>
                </a:solidFill>
                <a:latin typeface="Aptos"/>
              </a:defRPr>
            </a:pPr>
            <a:r>
              <a:t>Sports Injury Risk Prediction Using Random Forest and SVM</a:t>
            </a:r>
          </a:p>
        </p:txBody>
      </p:sp>
      <p:sp>
        <p:nvSpPr>
          <p:cNvPr id="8" name="TextBox 7"/>
          <p:cNvSpPr txBox="1"/>
          <p:nvPr/>
        </p:nvSpPr>
        <p:spPr>
          <a:xfrm>
            <a:off x="1188720" y="4446639"/>
            <a:ext cx="8046720" cy="424732"/>
          </a:xfrm>
          <a:prstGeom prst="rect">
            <a:avLst/>
          </a:prstGeom>
          <a:noFill/>
        </p:spPr>
        <p:txBody>
          <a:bodyPr wrap="square" lIns="36576" tIns="27432" rIns="36576" bIns="27432" anchor="t">
            <a:spAutoFit/>
          </a:bodyPr>
          <a:lstStyle/>
          <a:p>
            <a:pPr algn="l">
              <a:spcAft>
                <a:spcPts val="800"/>
              </a:spcAft>
              <a:defRPr sz="1400" b="0">
                <a:solidFill>
                  <a:srgbClr val="EBF3FA"/>
                </a:solidFill>
                <a:latin typeface="Aptos"/>
              </a:defRPr>
            </a:pPr>
            <a:r>
              <a:rPr sz="2400" dirty="0"/>
              <a:t>G. Manideep Patel  •  R. Sai Charan Reddi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477</Words>
  <Application>Microsoft Office PowerPoint</Application>
  <PresentationFormat>Widescreen</PresentationFormat>
  <Paragraphs>37</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 Charan Reddy</cp:lastModifiedBy>
  <cp:revision>2</cp:revision>
  <dcterms:created xsi:type="dcterms:W3CDTF">2013-01-27T09:14:16Z</dcterms:created>
  <dcterms:modified xsi:type="dcterms:W3CDTF">2026-10-05T03:24:50Z</dcterms:modified>
  <cp:category/>
</cp:coreProperties>
</file>