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2A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99B96"/>
                </a:solidFill>
                <a:latin typeface="Aptos"/>
              </a:defRPr>
            </a:pPr>
            <a:r>
              <a:t>MACHINE LEARNING PROJECT •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Sports Injury Risk Prediction</a:t>
            </a:r>
          </a:p>
          <a:p>
            <a:pPr>
              <a:spcAft>
                <a:spcPts val="8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Using Random Forest and SVM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CE5F0"/>
                </a:solidFill>
                <a:latin typeface="Aptos"/>
              </a:defRPr>
            </a:pPr>
            <a:r>
              <a:t>Model Evaluation, Comparison &amp; Finalization</a:t>
            </a:r>
          </a:p>
          <a:p>
            <a:pPr>
              <a:spcAft>
                <a:spcPts val="800"/>
              </a:spcAft>
              <a:defRPr sz="2000" b="0">
                <a:solidFill>
                  <a:srgbClr val="DCE5F0"/>
                </a:solidFill>
                <a:latin typeface="Aptos"/>
              </a:defRPr>
            </a:pPr>
            <a:r>
              <a:t>Academic Year: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G Manideep Patel — 2520090100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R Sai Charan Reddi — 2520090184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442"/>
                </a:solidFill>
                <a:latin typeface="Aptos"/>
              </a:defRPr>
            </a:pPr>
            <a:r>
              <a:t>Review 3: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0584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Evaluate the trained Random Forest and SVM models.</a:t>
            </a:r>
          </a:p>
          <a:p>
            <a:pPr>
              <a:spcAft>
                <a:spcPts val="13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Compare both models using the same test dataset.</a:t>
            </a:r>
          </a:p>
          <a:p>
            <a:pPr>
              <a:spcAft>
                <a:spcPts val="13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Study precision, recall, F1-score, accuracy, and confusion matrix.</a:t>
            </a:r>
          </a:p>
          <a:p>
            <a:pPr>
              <a:spcAft>
                <a:spcPts val="13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Finalize the prediction workflow and document limitations.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442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0584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9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3591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42442"/>
                </a:solidFill>
                <a:latin typeface="Aptos"/>
              </a:defRPr>
            </a:pPr>
            <a:r>
              <a:t>Athlete Data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40864" y="2450592"/>
            <a:ext cx="502920" cy="274320"/>
          </a:xfrm>
          <a:prstGeom prst="rightArrow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80360" y="214884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9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4368" y="23591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42442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581144" y="2450592"/>
            <a:ext cx="502920" cy="274320"/>
          </a:xfrm>
          <a:prstGeom prst="rightArrow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20640" y="214884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9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4648" y="23591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42442"/>
                </a:solidFill>
                <a:latin typeface="Aptos"/>
              </a:defRPr>
            </a:pPr>
            <a:r>
              <a:t>Trained Models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821424" y="2450592"/>
            <a:ext cx="502920" cy="274320"/>
          </a:xfrm>
          <a:prstGeom prst="rightArrow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60920" y="214884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9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4928" y="23591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42442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61704" y="2450592"/>
            <a:ext cx="502920" cy="274320"/>
          </a:xfrm>
          <a:prstGeom prst="rightArrow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0" y="214884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9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65208" y="23591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42442"/>
                </a:solidFill>
                <a:latin typeface="Aptos"/>
              </a:defRPr>
            </a:pPr>
            <a:r>
              <a:t>Risk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t>The same preprocessing steps used during training must also be applied to new athlete inputs.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442"/>
                </a:solidFill>
                <a:latin typeface="Aptos"/>
              </a:defRPr>
            </a:pPr>
            <a:r>
              <a:t>Evaluation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0584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99B96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234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t>Overall proportion of predictions that are correct.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99B96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945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t>How often predicted positive cases are actually positive.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99B96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1546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t>How many actual positive cases are identified.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99B96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1148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t>Balances precision and recall.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99B96"/>
                </a:solidFill>
                <a:latin typeface="Aptos"/>
              </a:defRPr>
            </a:pPr>
            <a:r>
              <a:t>CONFUSION MATRIX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50749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t>Shows correct and incorrect predictions by class.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442"/>
                </a:solidFill>
                <a:latin typeface="Aptos"/>
              </a:defRPr>
            </a:pPr>
            <a:r>
              <a:t>Random Forest vs SVM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0584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49834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9B96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4434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Ensemble of decision trees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Handles non-linear patterns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Can provide feature-importance estimates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49834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9B96"/>
                </a:solidFill>
                <a:latin typeface="Aptos"/>
              </a:defRPr>
            </a:pPr>
            <a:r>
              <a:t>SUPPORT VECTOR MACHINE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4434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Learns a separating decision boundary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Often benefits from feature scaling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Performance depends on kernel and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2120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42442"/>
                </a:solidFill>
                <a:latin typeface="Aptos"/>
              </a:defRPr>
            </a:pPr>
            <a:r>
              <a:t>Select the preferred model from measured test results—not from assumptions.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442"/>
                </a:solidFill>
                <a:latin typeface="Aptos"/>
              </a:defRPr>
            </a:pPr>
            <a:r>
              <a:t>Results Table (Fill With Actual Scores)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0584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55448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1554480"/>
                <a:gridCol w="1554480"/>
                <a:gridCol w="1554480"/>
                <a:gridCol w="2926080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73152" marR="54864">
                    <a:solidFill>
                      <a:srgbClr val="142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73152" marR="54864">
                    <a:solidFill>
                      <a:srgbClr val="142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 marL="73152" marR="54864">
                    <a:solidFill>
                      <a:srgbClr val="142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marL="73152" marR="54864">
                    <a:solidFill>
                      <a:srgbClr val="142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F1-score</a:t>
                      </a:r>
                    </a:p>
                  </a:txBody>
                  <a:tcPr marL="73152" marR="54864">
                    <a:solidFill>
                      <a:srgbClr val="142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Notes</a:t>
                      </a:r>
                    </a:p>
                  </a:txBody>
                  <a:tcPr marL="73152" marR="54864">
                    <a:solidFill>
                      <a:srgbClr val="14244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Enter measured results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SVM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Enter measured results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Selected model</a:t>
                      </a:r>
                    </a:p>
                  </a:txBody>
                  <a:tcPr marL="73152" marR="54864">
                    <a:solidFill>
                      <a:srgbClr val="E1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73152" marR="54864">
                    <a:solidFill>
                      <a:srgbClr val="E1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73152" marR="54864">
                    <a:solidFill>
                      <a:srgbClr val="E1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73152" marR="54864">
                    <a:solidFill>
                      <a:srgbClr val="E1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73152" marR="54864">
                    <a:solidFill>
                      <a:srgbClr val="E1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Based on test evaluation</a:t>
                      </a:r>
                    </a:p>
                  </a:txBody>
                  <a:tcPr marL="73152" marR="54864">
                    <a:solidFill>
                      <a:srgbClr val="E1F5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251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4748B"/>
                </a:solidFill>
                <a:latin typeface="Aptos"/>
              </a:defRPr>
            </a:pPr>
            <a:r>
              <a:t>Do not report invented accuracy values. Run both models on the test set and enter the actual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442"/>
                </a:solidFill>
                <a:latin typeface="Aptos"/>
              </a:defRPr>
            </a:pPr>
            <a:r>
              <a:t>Testing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0584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Test with data not used during model training.</a:t>
            </a:r>
          </a:p>
          <a:p>
            <a:pPr>
              <a:spcAft>
                <a:spcPts val="13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Check missing-value handling and categorical encoding.</a:t>
            </a:r>
          </a:p>
          <a:p>
            <a:pPr>
              <a:spcAft>
                <a:spcPts val="13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Verify that new athlete inputs use the same feature order and scaling.</a:t>
            </a:r>
          </a:p>
          <a:p>
            <a:pPr>
              <a:spcAft>
                <a:spcPts val="13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Inspect false negatives carefully because high-risk cases may be missed.</a:t>
            </a:r>
          </a:p>
          <a:p>
            <a:pPr>
              <a:spcAft>
                <a:spcPts val="13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Check class imbalance; accuracy alone may be misleading.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442"/>
                </a:solidFill>
                <a:latin typeface="Aptos"/>
              </a:defRPr>
            </a:pPr>
            <a:r>
              <a:t>Expected Outcomes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0584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9B96"/>
                </a:solidFill>
                <a:latin typeface="Aptos"/>
              </a:defRPr>
            </a:pPr>
            <a:r>
              <a:t>EXPECTED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A tested comparison of two classifiers.</a:t>
            </a:r>
          </a:p>
          <a:p>
            <a:pPr>
              <a:spcAft>
                <a:spcPts val="13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A repeatable pipeline for predicting the dataset's risk class.</a:t>
            </a:r>
          </a:p>
          <a:p>
            <a:pPr>
              <a:spcAft>
                <a:spcPts val="13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A documented model-selection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9B96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Predictions depend on dataset quality and representativeness.</a:t>
            </a:r>
          </a:p>
          <a:p>
            <a:pPr>
              <a:spcAft>
                <a:spcPts val="13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The model cannot guarantee that an injury will or will not occur.</a:t>
            </a:r>
          </a:p>
          <a:p>
            <a:pPr>
              <a:spcAft>
                <a:spcPts val="13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It supports but does not replace medical judgement.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442"/>
                </a:solidFill>
                <a:latin typeface="Aptos"/>
              </a:defRPr>
            </a:pPr>
            <a: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0584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Evaluate both algorithms using consistent test data and metrics.</a:t>
            </a:r>
          </a:p>
          <a:p>
            <a:pPr>
              <a:spcAft>
                <a:spcPts val="13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Choose the model that best fits the project's injury-risk objective.</a:t>
            </a:r>
          </a:p>
          <a:p>
            <a:pPr>
              <a:spcAft>
                <a:spcPts val="13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Future work may include more representative data and external validation.</a:t>
            </a:r>
          </a:p>
          <a:p>
            <a:pPr>
              <a:spcAft>
                <a:spcPts val="13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A user interface can make predictions easier to demonstrate.</a:t>
            </a:r>
          </a:p>
          <a:p>
            <a:pPr>
              <a:spcAft>
                <a:spcPts val="13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The system should be treated as decision support, not a medical diagnosis.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199B96"/>
                </a:solidFill>
                <a:latin typeface="Aptos"/>
              </a:defRPr>
            </a:pPr>
            <a:r>
              <a:t>Model Evaluation &amp; Finalization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DCE5F0"/>
                </a:solidFill>
                <a:latin typeface="Aptos"/>
              </a:defRPr>
            </a:pPr>
            <a:r>
              <a:t>Thank You •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