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2A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99B96"/>
                </a:solidFill>
                <a:latin typeface="Aptos"/>
              </a:defRPr>
            </a:pPr>
            <a:r>
              <a:t>MACHINE LEARNING PROJECT •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Sports Injury Risk Prediction</a:t>
            </a:r>
          </a:p>
          <a:p>
            <a:pPr>
              <a:spcAft>
                <a:spcPts val="8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Using Random Forest and SVM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CE5F0"/>
                </a:solidFill>
                <a:latin typeface="Aptos"/>
              </a:defRPr>
            </a:pPr>
            <a:r>
              <a:t>Dataset Preparation &amp; Model Development</a:t>
            </a:r>
          </a:p>
          <a:p>
            <a:pPr>
              <a:spcAft>
                <a:spcPts val="800"/>
              </a:spcAft>
              <a:defRPr sz="2000" b="0">
                <a:solidFill>
                  <a:srgbClr val="DCE5F0"/>
                </a:solidFill>
                <a:latin typeface="Aptos"/>
              </a:defRPr>
            </a:pPr>
            <a:r>
              <a:t>Academic Year: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G Manideep Patel — 2520090100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R Sai Charan Reddi — 2520090184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442"/>
                </a:solidFill>
                <a:latin typeface="Aptos"/>
              </a:defRPr>
            </a:pPr>
            <a:r>
              <a:t>Review 2: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0584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Prepare the athlete dataset for machine learning.</a:t>
            </a:r>
          </a:p>
          <a:p>
            <a:pPr>
              <a:spcAft>
                <a:spcPts val="13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Clean and transform data into a format suitable for model training.</a:t>
            </a:r>
          </a:p>
          <a:p>
            <a:pPr>
              <a:spcAft>
                <a:spcPts val="13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Train Random Forest and Support Vector Machine (SVM) classifiers.</a:t>
            </a:r>
          </a:p>
          <a:p>
            <a:pPr>
              <a:spcAft>
                <a:spcPts val="13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Perform initial testing and prepare for model comparison.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442"/>
                </a:solidFill>
                <a:latin typeface="Aptos"/>
              </a:defRPr>
            </a:pPr>
            <a:r>
              <a:t>Dataset &amp;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0584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4937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3619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99B96"/>
                </a:solidFill>
                <a:latin typeface="Aptos"/>
              </a:defRPr>
            </a:pPr>
            <a:r>
              <a:t>PHYSICAL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480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t>Age • Gender • BMI • Fitness level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4937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3619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99B96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38528"/>
            <a:ext cx="4480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t>Sport type • Weekly training hours • Training intensity • Workload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429000"/>
            <a:ext cx="4937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99B96"/>
                </a:solidFill>
                <a:latin typeface="Aptos"/>
              </a:defRPr>
            </a:pPr>
            <a:r>
              <a:t>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995928"/>
            <a:ext cx="4480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t>Sleep duration • Recovery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429000"/>
            <a:ext cx="4937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59359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99B96"/>
                </a:solidFill>
                <a:latin typeface="Aptos"/>
              </a:defRPr>
            </a:pPr>
            <a:r>
              <a:t>INJURY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995928"/>
            <a:ext cx="4480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t>Previous injury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442"/>
                </a:solidFill>
                <a:latin typeface="Aptos"/>
              </a:defRPr>
            </a:pPr>
            <a:r>
              <a:t>Data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0584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Check the dataset for missing values and duplicate records.</a:t>
            </a:r>
          </a:p>
          <a:p>
            <a:pPr>
              <a:spcAft>
                <a:spcPts val="13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Handle missing values using a suitable strategy.</a:t>
            </a:r>
          </a:p>
          <a:p>
            <a:pPr>
              <a:spcAft>
                <a:spcPts val="13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Encode categorical features such as gender and sport type.</a:t>
            </a:r>
          </a:p>
          <a:p>
            <a:pPr>
              <a:spcAft>
                <a:spcPts val="13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Scale numerical features where required, especially for SVM.</a:t>
            </a:r>
          </a:p>
          <a:p>
            <a:pPr>
              <a:spcAft>
                <a:spcPts val="13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Select relevant features and split the data into training and testing 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442"/>
                </a:solidFill>
                <a:latin typeface="Aptos"/>
              </a:defRPr>
            </a:pPr>
            <a:r>
              <a:t>Training and Testing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0584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645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9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87168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42442"/>
                </a:solidFill>
                <a:latin typeface="Aptos"/>
              </a:defRPr>
            </a:pPr>
            <a:r>
              <a:t>Raw Dataset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95728" y="2542032"/>
            <a:ext cx="502920" cy="320040"/>
          </a:xfrm>
          <a:prstGeom prst="rightArrow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71800" y="2240280"/>
            <a:ext cx="1645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9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2487168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42442"/>
                </a:solidFill>
                <a:latin typeface="Aptos"/>
              </a:defRPr>
            </a:pPr>
            <a:r>
              <a:t>Preprocessed Data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36008" y="2542032"/>
            <a:ext cx="502920" cy="320040"/>
          </a:xfrm>
          <a:prstGeom prst="rightArrow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12080" y="2240280"/>
            <a:ext cx="1645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9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5232" y="2487168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42442"/>
                </a:solidFill>
                <a:latin typeface="Aptos"/>
              </a:defRPr>
            </a:pPr>
            <a:r>
              <a:t>Train/Test Split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876288" y="2542032"/>
            <a:ext cx="502920" cy="320040"/>
          </a:xfrm>
          <a:prstGeom prst="rightArrow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52360" y="2240280"/>
            <a:ext cx="1645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9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2487168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42442"/>
                </a:solidFill>
                <a:latin typeface="Aptos"/>
              </a:defRPr>
            </a:pPr>
            <a:r>
              <a:t>Train Models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116568" y="2542032"/>
            <a:ext cx="502920" cy="320040"/>
          </a:xfrm>
          <a:prstGeom prst="rightArrow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92640" y="2240280"/>
            <a:ext cx="1645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9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65792" y="2487168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42442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t>The test set is kept separate to estimate how well the model performs on unseen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442"/>
                </a:solidFill>
                <a:latin typeface="Aptos"/>
              </a:defRPr>
            </a:pPr>
            <a:r>
              <a:t>Model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0584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99B96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Builds an ensemble of decision trees.</a:t>
            </a:r>
          </a:p>
          <a:p>
            <a:pPr>
              <a:spcAft>
                <a:spcPts val="13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Captures complex relationships between features.</a:t>
            </a:r>
          </a:p>
          <a:p>
            <a:pPr>
              <a:spcAft>
                <a:spcPts val="13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Combines tree outputs for a final classification.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9B96"/>
                </a:solidFill>
                <a:latin typeface="Aptos"/>
              </a:defRPr>
            </a:pPr>
            <a:r>
              <a:t>SUPPORT VECTOR MACHINE (SVM)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Learns a boundary that separates classes.</a:t>
            </a:r>
          </a:p>
          <a:p>
            <a:pPr>
              <a:spcAft>
                <a:spcPts val="13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Can be effective for classification tasks.</a:t>
            </a:r>
          </a:p>
          <a:p>
            <a:pPr>
              <a:spcAft>
                <a:spcPts val="13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Often benefits from scaled input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442"/>
                </a:solidFill>
                <a:latin typeface="Aptos"/>
              </a:defRPr>
            </a:pPr>
            <a:r>
              <a:t>Software &amp; Libraries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0584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Python 3.9 or above</a:t>
            </a:r>
          </a:p>
          <a:p>
            <a:pPr>
              <a:spcAft>
                <a:spcPts val="13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Jupyter Notebook or Google Colab</a:t>
            </a:r>
          </a:p>
          <a:p>
            <a:pPr>
              <a:spcAft>
                <a:spcPts val="13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Pandas and NumPy for data handling</a:t>
            </a:r>
          </a:p>
          <a:p>
            <a:pPr>
              <a:spcAft>
                <a:spcPts val="13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Scikit-learn for preprocessing, training, and evaluation</a:t>
            </a:r>
          </a:p>
          <a:p>
            <a:pPr>
              <a:spcAft>
                <a:spcPts val="13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Matplotlib and Seaborn for visualisation</a:t>
            </a:r>
          </a:p>
          <a:p>
            <a:pPr>
              <a:spcAft>
                <a:spcPts val="13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CSV format for storing the 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442"/>
                </a:solidFill>
                <a:latin typeface="Aptos"/>
              </a:defRPr>
            </a:pPr>
            <a:r>
              <a:t>Initial Evaluation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0584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Accuracy — overall proportion of correct predictions.</a:t>
            </a:r>
          </a:p>
          <a:p>
            <a:pPr>
              <a:spcAft>
                <a:spcPts val="13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Precision — reliability of positive injury-risk predictions.</a:t>
            </a:r>
          </a:p>
          <a:p>
            <a:pPr>
              <a:spcAft>
                <a:spcPts val="13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Recall — ability to identify actual positive cases.</a:t>
            </a:r>
          </a:p>
          <a:p>
            <a:pPr>
              <a:spcAft>
                <a:spcPts val="13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F1-score — balance between precision and recall.</a:t>
            </a:r>
          </a:p>
          <a:p>
            <a:pPr>
              <a:spcAft>
                <a:spcPts val="13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Confusion matrix — breakdown of correct and incorrect predictions.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4748B"/>
                </a:solidFill>
                <a:latin typeface="Aptos"/>
              </a:defRPr>
            </a:pPr>
            <a:r>
              <a:t>Actual scores should be entered only after the models have been 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442"/>
                </a:solidFill>
                <a:latin typeface="Aptos"/>
              </a:defRPr>
            </a:pPr>
            <a:r>
              <a:t>Review 2 Summary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05840" cy="64008"/>
          </a:xfrm>
          <a:prstGeom prst="rect">
            <a:avLst/>
          </a:prstGeom>
          <a:solidFill>
            <a:srgbClr val="19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9B96"/>
                </a:solidFill>
                <a:latin typeface="Aptos"/>
              </a:defRPr>
            </a:pPr>
            <a:r>
              <a:t>REVIEW 2 DELIVERABLES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Dataset prepared and checked</a:t>
            </a:r>
          </a:p>
          <a:p>
            <a:pPr>
              <a:spcAft>
                <a:spcPts val="13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Preprocessing pipeline defined</a:t>
            </a:r>
          </a:p>
          <a:p>
            <a:pPr>
              <a:spcAft>
                <a:spcPts val="13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Both classifiers implemented</a:t>
            </a:r>
          </a:p>
          <a:p>
            <a:pPr>
              <a:spcAft>
                <a:spcPts val="13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Initial testing performed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9B96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Tune model parameters</a:t>
            </a:r>
          </a:p>
          <a:p>
            <a:pPr>
              <a:spcAft>
                <a:spcPts val="13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Compare test-set metrics</a:t>
            </a:r>
          </a:p>
          <a:p>
            <a:pPr>
              <a:spcAft>
                <a:spcPts val="13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Review confusion matrices</a:t>
            </a:r>
          </a:p>
          <a:p>
            <a:pPr>
              <a:spcAft>
                <a:spcPts val="13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Prepare final demonstration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Use only the items that match the work actually completed by your team.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REVIEW 2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199B96"/>
                </a:solidFill>
                <a:latin typeface="Aptos"/>
              </a:defRPr>
            </a:pPr>
            <a:r>
              <a:t>Dataset Preparation &amp; Model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DCE5F0"/>
                </a:solidFill>
                <a:latin typeface="Aptos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